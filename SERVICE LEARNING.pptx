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1"/>
  </p:notesMasterIdLst>
  <p:sldIdLst>
    <p:sldId id="256" r:id="rId2"/>
    <p:sldId id="262" r:id="rId3"/>
    <p:sldId id="275" r:id="rId4"/>
    <p:sldId id="263" r:id="rId5"/>
    <p:sldId id="279" r:id="rId6"/>
    <p:sldId id="272" r:id="rId7"/>
    <p:sldId id="280" r:id="rId8"/>
    <p:sldId id="273" r:id="rId9"/>
    <p:sldId id="265" r:id="rId10"/>
    <p:sldId id="281" r:id="rId11"/>
    <p:sldId id="278" r:id="rId12"/>
    <p:sldId id="282" r:id="rId13"/>
    <p:sldId id="283" r:id="rId14"/>
    <p:sldId id="288" r:id="rId15"/>
    <p:sldId id="284" r:id="rId16"/>
    <p:sldId id="285" r:id="rId17"/>
    <p:sldId id="286" r:id="rId18"/>
    <p:sldId id="287" r:id="rId19"/>
    <p:sldId id="266" r:id="rId20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Malgun Gothic" panose="020B0503020000020004" pitchFamily="34" charset="-127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727805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0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flipH="1">
            <a:off x="17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rgbClr val="000000"/>
              </a:buClr>
              <a:buSzPct val="100000"/>
              <a:buFont typeface="Times New Roman"/>
              <a:buNone/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buClr>
                <a:srgbClr val="000000"/>
              </a:buClr>
              <a:buFont typeface="Georgia"/>
              <a:buNone/>
              <a:defRPr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algn="ctr">
              <a:spcBef>
                <a:spcPts val="0"/>
              </a:spcBef>
              <a:buClr>
                <a:srgbClr val="000000"/>
              </a:buClr>
              <a:buFont typeface="Georgia"/>
              <a:buNone/>
              <a:defRPr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algn="ctr">
              <a:spcBef>
                <a:spcPts val="0"/>
              </a:spcBef>
              <a:buClr>
                <a:srgbClr val="000000"/>
              </a:buClr>
              <a:buSzPct val="100000"/>
              <a:buFont typeface="Georgia"/>
              <a:buNone/>
              <a:defRPr sz="2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algn="ctr">
              <a:spcBef>
                <a:spcPts val="0"/>
              </a:spcBef>
              <a:buClr>
                <a:srgbClr val="000000"/>
              </a:buClr>
              <a:buSzPct val="100000"/>
              <a:buFont typeface="Georgia"/>
              <a:buNone/>
              <a:defRPr sz="2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algn="ctr">
              <a:spcBef>
                <a:spcPts val="0"/>
              </a:spcBef>
              <a:buClr>
                <a:srgbClr val="000000"/>
              </a:buClr>
              <a:buSzPct val="100000"/>
              <a:buFont typeface="Georgia"/>
              <a:buNone/>
              <a:defRPr sz="2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algn="ctr">
              <a:spcBef>
                <a:spcPts val="0"/>
              </a:spcBef>
              <a:buClr>
                <a:srgbClr val="000000"/>
              </a:buClr>
              <a:buSzPct val="100000"/>
              <a:buFont typeface="Georgia"/>
              <a:buNone/>
              <a:defRPr sz="2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algn="ctr">
              <a:spcBef>
                <a:spcPts val="0"/>
              </a:spcBef>
              <a:buClr>
                <a:srgbClr val="000000"/>
              </a:buClr>
              <a:buSzPct val="100000"/>
              <a:buFont typeface="Georgia"/>
              <a:buNone/>
              <a:defRPr sz="2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algn="ctr">
              <a:spcBef>
                <a:spcPts val="0"/>
              </a:spcBef>
              <a:buClr>
                <a:srgbClr val="000000"/>
              </a:buClr>
              <a:buSzPct val="100000"/>
              <a:buFont typeface="Georgia"/>
              <a:buNone/>
              <a:defRPr sz="2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7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4" name="Shape 14" descr="cu 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72799" y="257950"/>
            <a:ext cx="2460751" cy="99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University is a nurturing ground for an individual’s holistic development to make effective contribution to the society in a dynamic environment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399" cy="93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Values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|  Social Responsibility | Pursuit of Excellence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bg>
      <p:bgPr>
        <a:noFill/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457200" y="614974"/>
            <a:ext cx="8229600" cy="683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2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buClr>
                <a:srgbClr val="666666"/>
              </a:buClr>
              <a:buSzPct val="100000"/>
              <a:buFont typeface="Times New Roman"/>
              <a:defRPr sz="3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457200" y="1485450"/>
            <a:ext cx="8229600" cy="486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Times New Roman"/>
              <a:defRPr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Font typeface="Times New Roman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buClr>
                <a:srgbClr val="000000"/>
              </a:buClr>
              <a:buSzPct val="100000"/>
              <a:buFont typeface="Times New Roman"/>
              <a:def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buClr>
                <a:srgbClr val="000000"/>
              </a:buClr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buClr>
                <a:srgbClr val="000000"/>
              </a:buClr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buClr>
                <a:srgbClr val="000000"/>
              </a:buClr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buClr>
                <a:srgbClr val="000000"/>
              </a:buClr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buClr>
                <a:srgbClr val="000000"/>
              </a:buClr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buClr>
                <a:srgbClr val="000000"/>
              </a:buClr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-11025" y="6347774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3343200" y="6431139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</a:p>
        </p:txBody>
      </p:sp>
      <p:sp>
        <p:nvSpPr>
          <p:cNvPr id="24" name="Shape 2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Shape 2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6945800" y="288575"/>
            <a:ext cx="1997100" cy="2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University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-11025" y="6347774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" name="Shape 55"/>
          <p:cNvSpPr txBox="1"/>
          <p:nvPr/>
        </p:nvSpPr>
        <p:spPr>
          <a:xfrm>
            <a:off x="3343200" y="6431139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</a:p>
        </p:txBody>
      </p:sp>
      <p:sp>
        <p:nvSpPr>
          <p:cNvPr id="56" name="Shape 5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" name="Shape 5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6945800" y="288575"/>
            <a:ext cx="1997100" cy="2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University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91" y="6333134"/>
            <a:ext cx="548699" cy="52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GB" sz="1300">
                <a:solidFill>
                  <a:schemeClr val="dk1"/>
                </a:solidFill>
              </a:rPr>
              <a:t>‹#›</a:t>
            </a:fld>
            <a:endParaRPr lang="en-GB" sz="13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ctrTitle"/>
          </p:nvPr>
        </p:nvSpPr>
        <p:spPr>
          <a:xfrm>
            <a:off x="612648" y="1663021"/>
            <a:ext cx="7772400" cy="1546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Service Learning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EDEN FOODS WEB APP </a:t>
            </a:r>
            <a:br>
              <a:rPr lang="en-IN" dirty="0"/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I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Shape 64"/>
          <p:cNvSpPr txBox="1">
            <a:spLocks noGrp="1"/>
          </p:cNvSpPr>
          <p:nvPr>
            <p:ph type="subTitle" idx="1"/>
          </p:nvPr>
        </p:nvSpPr>
        <p:spPr>
          <a:xfrm>
            <a:off x="414686" y="3360915"/>
            <a:ext cx="7772400" cy="200374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l"/>
            <a:endParaRPr lang="en-US" sz="2000" dirty="0"/>
          </a:p>
          <a:p>
            <a:pPr algn="l"/>
            <a:r>
              <a:rPr lang="en-US" sz="2000" b="1" dirty="0"/>
              <a:t>Team Members</a:t>
            </a:r>
          </a:p>
          <a:p>
            <a:pPr algn="l"/>
            <a:r>
              <a:rPr lang="en-US" sz="2000" dirty="0"/>
              <a:t>Alina Shaji – 2362025</a:t>
            </a:r>
            <a:br>
              <a:rPr lang="en-IN" sz="2000" dirty="0"/>
            </a:br>
            <a:r>
              <a:rPr lang="en-IN" sz="2000" dirty="0"/>
              <a:t>Austin Sajeev Abraham (2362046) </a:t>
            </a:r>
            <a:br>
              <a:rPr lang="en-IN" sz="2000" dirty="0"/>
            </a:br>
            <a:r>
              <a:rPr lang="en-IN" sz="2000" dirty="0"/>
              <a:t>Bhuvnesh B </a:t>
            </a:r>
            <a:r>
              <a:rPr lang="en-IN" sz="2000" dirty="0" err="1"/>
              <a:t>Erambath</a:t>
            </a:r>
            <a:r>
              <a:rPr lang="en-IN" sz="2000" dirty="0"/>
              <a:t> (2362053)</a:t>
            </a:r>
            <a:br>
              <a:rPr lang="en-IN" sz="2000" dirty="0"/>
            </a:br>
            <a:r>
              <a:rPr lang="en-IN" sz="2000" dirty="0"/>
              <a:t>Christy Samuel Moses Dsouza (2362056) </a:t>
            </a:r>
          </a:p>
          <a:p>
            <a:pPr algn="l"/>
            <a:r>
              <a:rPr lang="en-IN" sz="2000" dirty="0"/>
              <a:t>Rishabh M </a:t>
            </a:r>
            <a:r>
              <a:rPr lang="en-IN" sz="2000" dirty="0" err="1"/>
              <a:t>Malge</a:t>
            </a:r>
            <a:r>
              <a:rPr lang="en-IN" sz="2000" dirty="0"/>
              <a:t> (2362195)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CONFIRMATION LETTER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8A1CE-36BC-C0AF-5C93-DD949346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0" t="1867"/>
          <a:stretch>
            <a:fillRect/>
          </a:stretch>
        </p:blipFill>
        <p:spPr>
          <a:xfrm>
            <a:off x="928539" y="1298674"/>
            <a:ext cx="6471502" cy="4862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EA17-27BE-8A3A-45FF-E3E7B8380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66" y="556188"/>
            <a:ext cx="8229600" cy="683700"/>
          </a:xfrm>
        </p:spPr>
        <p:txBody>
          <a:bodyPr/>
          <a:lstStyle/>
          <a:p>
            <a:r>
              <a:rPr lang="en-IN" dirty="0"/>
              <a:t>NEED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498A973-91DE-CF1E-A7AF-789D1DC16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0166" y="1239888"/>
            <a:ext cx="8463668" cy="515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Visibility &amp; Branding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Customers need an easy place to learn about the company, the founders (women entrepreneurs), and product range.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Sales Channel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Local customers want to place orders online for pickup/delivery — the website enables direct orders and reduces dependence on phone orders.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Trust &amp; Legitimacy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An official site + company letterhead + geotag photos increases trust for B2B and retail buyers.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Product Catalog &amp; Information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Customers need clear product descriptions, prices, and images to choose items.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Payments &amp; Convenience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Integrating </a:t>
            </a:r>
            <a:r>
              <a:rPr lang="en-US" sz="1400" dirty="0" err="1"/>
              <a:t>Razorpay</a:t>
            </a:r>
            <a:r>
              <a:rPr lang="en-US" sz="1400" dirty="0"/>
              <a:t> provides secure, easy payments and enables pre-paid orders.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Operational Efficiency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An admin panel helps the company manage orders, update product availability, and view order history.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Marketing &amp; Growth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A website enables SEO, social sharing, and future integration with local marketplaces or delivery apps.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7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GEOTAGGED PHOTO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E17086-4DF0-EF13-35EC-E50576E50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176788"/>
            <a:ext cx="184731" cy="661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85EB75-A607-F826-CAF6-77B5D612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98" y="1539688"/>
            <a:ext cx="4137102" cy="2555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0D1DBF-7F0B-707C-C4B9-8AE3E80EA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35898"/>
            <a:ext cx="4092498" cy="1907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00CEA0-963B-1350-5913-A3FEB7DF3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724" y="1831919"/>
            <a:ext cx="4092498" cy="3749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C357-A5F3-26B3-EAE7-3C1DD39D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7F8B-0475-46D4-FB3F-531DCBD3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830" y="245098"/>
            <a:ext cx="376373" cy="246832"/>
          </a:xfrm>
        </p:spPr>
        <p:txBody>
          <a:bodyPr/>
          <a:lstStyle/>
          <a:p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76E9137-93B2-8112-9980-3C9076709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784016" y="0"/>
            <a:ext cx="184731" cy="661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50C68-CE37-4875-E2B9-BA69B873A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74145"/>
            <a:ext cx="3888558" cy="2378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8918C9-AF43-7F4B-7B7A-A8DA03F03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23" y="576366"/>
            <a:ext cx="3538506" cy="2391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F2E07A-9085-1B2B-B10E-8279B7BA52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45"/>
          <a:stretch>
            <a:fillRect/>
          </a:stretch>
        </p:blipFill>
        <p:spPr>
          <a:xfrm>
            <a:off x="457200" y="3506395"/>
            <a:ext cx="3888558" cy="25724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7219AE-384C-4E00-05CF-1097F7E8F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323" y="3424929"/>
            <a:ext cx="3538507" cy="26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83B6-6033-421A-4502-E26D9E08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7203"/>
            <a:ext cx="8229600" cy="68370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F396E6-58EE-0BB6-1B0A-5DCCE1735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46328"/>
            <a:ext cx="8229600" cy="3365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850"/>
              </a:lnSpc>
            </a:pPr>
            <a:r>
              <a:rPr lang="en-US" sz="2400" dirty="0"/>
              <a:t>Eden Food Products needed a modern website to digitally showcase their fresh items like Chapatti, Poori, Parotta, and </a:t>
            </a:r>
            <a:r>
              <a:rPr lang="en-US" sz="2400" dirty="0" err="1"/>
              <a:t>Idli</a:t>
            </a:r>
            <a:r>
              <a:rPr lang="en-US" sz="2400" dirty="0"/>
              <a:t>/Dosa Batter. Their ordering and delivery processes were mostly manual, limiting customer reach and efficiency. A responsive full-stack web based solution was required to improve accessibility and user experience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74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AB1D7E-980A-66F9-BECC-703D5ECF316B}"/>
              </a:ext>
            </a:extLst>
          </p:cNvPr>
          <p:cNvSpPr/>
          <p:nvPr/>
        </p:nvSpPr>
        <p:spPr>
          <a:xfrm>
            <a:off x="372359" y="1489435"/>
            <a:ext cx="4548433" cy="2422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F547D-11CD-3B5E-6E2A-10B2CBF9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SDG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C714-91D2-782A-49FE-CE1FDBA28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079" y="1319752"/>
            <a:ext cx="4529579" cy="2762053"/>
          </a:xfrm>
        </p:spPr>
        <p:txBody>
          <a:bodyPr/>
          <a:lstStyle/>
          <a:p>
            <a:r>
              <a:rPr lang="en-US" sz="1800" b="1" dirty="0"/>
              <a:t>SDG 5 – Gender Equality</a:t>
            </a:r>
          </a:p>
          <a:p>
            <a:r>
              <a:rPr lang="en-US" sz="1600" b="1" dirty="0"/>
              <a:t>Empowers women-led enterprises</a:t>
            </a:r>
            <a:r>
              <a:rPr lang="en-US" sz="1600" dirty="0"/>
              <a:t> by providing digital tools that enhance operational efficiency and business visibility.</a:t>
            </a:r>
            <a:br>
              <a:rPr lang="en-US" sz="1600" dirty="0"/>
            </a:br>
            <a:r>
              <a:rPr lang="en-US" sz="1600" dirty="0"/>
              <a:t>Supports equitable participation by strengthening the capacity of women entrepreneurs, enabling sustainable economic independence and competitive market presence</a:t>
            </a:r>
            <a:r>
              <a:rPr lang="en-US" sz="1400" dirty="0"/>
              <a:t>.</a:t>
            </a:r>
          </a:p>
          <a:p>
            <a:endParaRPr lang="en-IN" sz="1400" dirty="0"/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20EF4-3401-9520-3C89-B4F181451E01}"/>
              </a:ext>
            </a:extLst>
          </p:cNvPr>
          <p:cNvSpPr txBox="1"/>
          <p:nvPr/>
        </p:nvSpPr>
        <p:spPr>
          <a:xfrm>
            <a:off x="372359" y="4081805"/>
            <a:ext cx="4548433" cy="2308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</a:p>
          <a:p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Promotes inclusive economic </a:t>
            </a:r>
            <a:r>
              <a:rPr lang="en-US" sz="1600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scalable digital platform for a small business, improving productivity and operational workflow.</a:t>
            </a:r>
            <a:br>
              <a:rPr lang="en-US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Facilitates sustainable job creation through technology adoption and enhances entrepreneurial growth in local communities.</a:t>
            </a:r>
          </a:p>
          <a:p>
            <a:endParaRPr lang="en-I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531FA-AD07-C992-CE0F-25FD719D4D99}"/>
              </a:ext>
            </a:extLst>
          </p:cNvPr>
          <p:cNvSpPr txBox="1"/>
          <p:nvPr/>
        </p:nvSpPr>
        <p:spPr>
          <a:xfrm>
            <a:off x="5175315" y="2219757"/>
            <a:ext cx="3624606" cy="3016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&amp; Infrastructure Advances digital innovation </a:t>
            </a:r>
            <a:r>
              <a:rPr lang="en-I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designing a modern web-based system using React, Tailwind, and Express.js to streamline product management, orders, and customer interaction.</a:t>
            </a:r>
            <a:br>
              <a:rPr lang="en-IN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Strengthens technological infrastructure for small businesses, enabling data-driven operations and fostering long-term digital transformation</a:t>
            </a:r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34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9C29-0AAE-86B9-76FD-4D7CE332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1239"/>
            <a:ext cx="8229600" cy="683700"/>
          </a:xfrm>
        </p:spPr>
        <p:txBody>
          <a:bodyPr/>
          <a:lstStyle/>
          <a:p>
            <a:pPr>
              <a:lnSpc>
                <a:spcPts val="5300"/>
              </a:lnSpc>
            </a:pPr>
            <a:r>
              <a:rPr lang="en-US" dirty="0">
                <a:solidFill>
                  <a:srgbClr val="403C4E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Methodology (Design &amp; Evaluation)</a:t>
            </a:r>
            <a:endParaRPr lang="en-US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29" name="Picture 28" descr="A close-up of a document&#10;&#10;AI-generated content may be incorrect.">
            <a:extLst>
              <a:ext uri="{FF2B5EF4-FFF2-40B4-BE49-F238E27FC236}">
                <a16:creationId xmlns:a16="http://schemas.microsoft.com/office/drawing/2014/main" id="{15C9AA9B-B6FC-A389-0951-D2AF98AF0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765"/>
            <a:ext cx="9059159" cy="459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3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7DE92C-F096-E0B3-BFF3-D924F0B02335}"/>
              </a:ext>
            </a:extLst>
          </p:cNvPr>
          <p:cNvSpPr/>
          <p:nvPr/>
        </p:nvSpPr>
        <p:spPr>
          <a:xfrm>
            <a:off x="240382" y="4812180"/>
            <a:ext cx="8592533" cy="143084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9D20CB-B1C6-3867-EF40-C9D2AE4C3CCC}"/>
              </a:ext>
            </a:extLst>
          </p:cNvPr>
          <p:cNvSpPr/>
          <p:nvPr/>
        </p:nvSpPr>
        <p:spPr>
          <a:xfrm>
            <a:off x="240382" y="3196181"/>
            <a:ext cx="8592533" cy="13849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D01DCE-074E-0C85-986A-B61C1F42F0E9}"/>
              </a:ext>
            </a:extLst>
          </p:cNvPr>
          <p:cNvSpPr/>
          <p:nvPr/>
        </p:nvSpPr>
        <p:spPr>
          <a:xfrm>
            <a:off x="240382" y="1298674"/>
            <a:ext cx="8592533" cy="16269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Progress 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82C083-2C33-2A6F-7433-66B5F411F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085" y="1298674"/>
            <a:ext cx="7989217" cy="189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Customer Website Fully Designed &amp;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Built complete frontend using React, HTML5, CSS, Tailwind.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Added product items, categories (menus), cart, bulk orders &amp; subscription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Payment options: COD + </a:t>
            </a:r>
            <a:r>
              <a:rPr lang="en-IN" sz="1400" dirty="0" err="1"/>
              <a:t>Razorpay</a:t>
            </a:r>
            <a:r>
              <a:rPr lang="en-IN" sz="1400" dirty="0"/>
              <a:t> placeholder.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Implemented delivery area checker using geolocation (50 km radius).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Added customer reviews, FAQ, owner details &amp; WhatsApp chat widget integration.</a:t>
            </a:r>
          </a:p>
          <a:p>
            <a:pPr marL="342900" indent="-3429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67D48-F268-D96E-617B-571E4A3B92AD}"/>
              </a:ext>
            </a:extLst>
          </p:cNvPr>
          <p:cNvSpPr txBox="1"/>
          <p:nvPr/>
        </p:nvSpPr>
        <p:spPr>
          <a:xfrm>
            <a:off x="311085" y="3171995"/>
            <a:ext cx="780068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Website Fully Designed &amp;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complete frontend using React, HTML5, CSS, Tailwind.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product items, categories (menus), cart, bulk orders &amp; subscription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options: COD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placeholder.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delivery area checker using geolocation (50 km radius).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customer reviews, FAQ, owner details &amp; WhatsApp chat widget integration.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1236C-8AB8-0A3F-303A-208AF8588CCA}"/>
              </a:ext>
            </a:extLst>
          </p:cNvPr>
          <p:cNvSpPr txBox="1"/>
          <p:nvPr/>
        </p:nvSpPr>
        <p:spPr>
          <a:xfrm>
            <a:off x="311085" y="4812180"/>
            <a:ext cx="730106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Website Fully Designed &amp;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complete frontend using React, HTML5, CSS, Tailwind.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product items, categories (menus), cart, bulk orders &amp; subscription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options: COD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placeholder.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delivery area checker using geolocation (50 km radius).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customer reviews, FAQ, owner details &amp; WhatsApp chat widget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FF1F67-34A5-FE87-E319-B63986A54E59}"/>
              </a:ext>
            </a:extLst>
          </p:cNvPr>
          <p:cNvSpPr/>
          <p:nvPr/>
        </p:nvSpPr>
        <p:spPr>
          <a:xfrm>
            <a:off x="367645" y="3429000"/>
            <a:ext cx="8229600" cy="175574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97B3B-DEF3-45F9-9B2D-D652FCD7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Progress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DEFBA3-6060-8D2E-195F-1CDD59C61CD5}"/>
              </a:ext>
            </a:extLst>
          </p:cNvPr>
          <p:cNvSpPr/>
          <p:nvPr/>
        </p:nvSpPr>
        <p:spPr>
          <a:xfrm>
            <a:off x="367645" y="1545996"/>
            <a:ext cx="8229600" cy="140459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14969-A9BC-6940-B314-104AE8328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45996"/>
            <a:ext cx="7810107" cy="3723588"/>
          </a:xfrm>
        </p:spPr>
        <p:txBody>
          <a:bodyPr/>
          <a:lstStyle/>
          <a:p>
            <a:r>
              <a:rPr lang="en-US" sz="1600" b="1" dirty="0"/>
              <a:t>Delivery Check &amp; Geo-Logic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Integrated OpenStreetMap </a:t>
            </a:r>
            <a:r>
              <a:rPr lang="en-US" sz="1400" dirty="0" err="1"/>
              <a:t>Nominatim</a:t>
            </a:r>
            <a:r>
              <a:rPr lang="en-US" sz="1400" dirty="0"/>
              <a:t> API for address → coordinates.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Used Haversine formula to calculate distance from the company to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Automatically validates if delivery is allowed (&lt; 50 km).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Provides real-time delivery availability to users during checkout.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US" sz="1600" b="1" dirty="0"/>
              <a:t>Ready for Payment Integration &amp;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Planned full </a:t>
            </a:r>
            <a:r>
              <a:rPr lang="en-US" sz="1400" dirty="0" err="1"/>
              <a:t>Razorpay</a:t>
            </a:r>
            <a:r>
              <a:rPr lang="en-US" sz="1400" dirty="0"/>
              <a:t> payment gateway integration (test mode + live mode).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Pre-configured backend routes for online payment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Preparing for deployment on hosting platforms (Netlify + Render / AWS).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Next steps include linking domain, improving UI polish &amp; final testing.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1140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5B02-2A32-DDC0-6BA9-80EE86EF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07" y="848413"/>
            <a:ext cx="8229600" cy="683700"/>
          </a:xfrm>
        </p:spPr>
        <p:txBody>
          <a:bodyPr/>
          <a:lstStyle/>
          <a:p>
            <a:r>
              <a:rPr lang="en-US" dirty="0">
                <a:solidFill>
                  <a:srgbClr val="403C4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Merriweather Bold" pitchFamily="34" charset="-120"/>
              </a:rPr>
              <a:t>Weekly Report Summary</a:t>
            </a:r>
            <a:b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6DD1E-6F9B-E7DD-62E9-12361DD8A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107" y="848413"/>
            <a:ext cx="4176074" cy="3385542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 Semester</a:t>
            </a:r>
          </a:p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1400" dirty="0"/>
              <a:t>• Identifying and shortlisting service-learning companies.</a:t>
            </a:r>
            <a:br>
              <a:rPr lang="en-US" sz="1400" dirty="0"/>
            </a:br>
            <a:r>
              <a:rPr lang="en-US" sz="1400" dirty="0"/>
              <a:t>• Contacting companies via calls, emails, and field visits.</a:t>
            </a:r>
            <a:br>
              <a:rPr lang="en-US" sz="1400" dirty="0"/>
            </a:br>
            <a:r>
              <a:rPr lang="en-US" sz="1400" dirty="0"/>
              <a:t>• Exploring work environments and finalizing Eden Food Products.</a:t>
            </a:r>
            <a:br>
              <a:rPr lang="en-US" sz="1400" dirty="0"/>
            </a:br>
            <a:r>
              <a:rPr lang="en-US" sz="1400" dirty="0"/>
              <a:t>• Requirement analysis and project concept finalization.</a:t>
            </a:r>
            <a:br>
              <a:rPr lang="en-US" sz="1400" dirty="0"/>
            </a:br>
            <a:r>
              <a:rPr lang="en-US" sz="1400" dirty="0"/>
              <a:t>• UI development using Tailwind CSS &amp; React.</a:t>
            </a:r>
            <a:br>
              <a:rPr lang="en-US" sz="1400" dirty="0"/>
            </a:br>
            <a:r>
              <a:rPr lang="en-US" sz="1400" dirty="0"/>
              <a:t>• Building product and cart functionality.</a:t>
            </a:r>
            <a:br>
              <a:rPr lang="en-US" sz="1400" dirty="0"/>
            </a:br>
            <a:r>
              <a:rPr lang="en-US" sz="1400" dirty="0"/>
              <a:t>• Starting backend development (Node.js/Express API routes).</a:t>
            </a:r>
            <a:br>
              <a:rPr lang="en-US" sz="1400" dirty="0"/>
            </a:br>
            <a:r>
              <a:rPr lang="en-US" sz="1400" dirty="0"/>
              <a:t>• Designing the admin dashboard structure.</a:t>
            </a:r>
          </a:p>
          <a:p>
            <a:pPr>
              <a:lnSpc>
                <a:spcPct val="150000"/>
              </a:lnSpc>
            </a:pPr>
            <a:endParaRPr lang="en-IN" sz="1200" dirty="0"/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chemeClr val="tx1"/>
                </a:solidFill>
              </a:rPr>
              <a:t>			                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chemeClr val="tx1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chemeClr val="tx1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chemeClr val="tx1"/>
                </a:solidFill>
              </a:rPr>
              <a:t>						</a:t>
            </a: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87CA9-3CD6-D32D-AA9B-4A674D389E1A}"/>
              </a:ext>
            </a:extLst>
          </p:cNvPr>
          <p:cNvSpPr txBox="1"/>
          <p:nvPr/>
        </p:nvSpPr>
        <p:spPr>
          <a:xfrm>
            <a:off x="4633274" y="1022812"/>
            <a:ext cx="4176074" cy="467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admin dashboard UI and integrating backend APIs.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Adding login authentication and linking admin features.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Testing complete order workflow end-to-end.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Improving UI responsiveness, animations &amp; user experience.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Preparing final documentation, screenshots, and workflow diagrams.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testing, bug fixing, cross-device checks.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 readiness and submission preparation.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391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85DF-3DD8-18A5-0169-7499032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B5DB-F19D-B975-4422-BF99F048A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0544" y="6552731"/>
            <a:ext cx="2446256" cy="30526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basket of food and a jar of food&#10;&#10;AI-generated content may be incorrect.">
            <a:extLst>
              <a:ext uri="{FF2B5EF4-FFF2-40B4-BE49-F238E27FC236}">
                <a16:creationId xmlns:a16="http://schemas.microsoft.com/office/drawing/2014/main" id="{9C950BB8-0BE6-E20A-DD3E-8B1FDA20D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92" y="1481252"/>
            <a:ext cx="8686800" cy="389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2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E5BB-9050-82FC-F5EC-1644E04D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2491" y="857838"/>
            <a:ext cx="391212" cy="29943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3D1C5-5308-8B07-B8EB-EEAC163CC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658359" y="3176833"/>
            <a:ext cx="1046375" cy="631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C87363DF-C3F2-9E4C-52C1-E37C0E364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1" y="857838"/>
            <a:ext cx="8634953" cy="492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6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C51C-4730-9915-460D-8928DC84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B052-3FBB-EB6D-91A6-35968A3D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2491" y="857838"/>
            <a:ext cx="391212" cy="29943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1EA78-95C5-2DCB-6FE8-8C78371E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658359" y="3176833"/>
            <a:ext cx="1046375" cy="631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421CB-D383-D134-43D4-8D83D9A24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8" y="552198"/>
            <a:ext cx="8486386" cy="269062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22CCD8-810A-5624-94D8-D1F59D976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8" y="3242821"/>
            <a:ext cx="8486385" cy="301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6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84C95-5EFD-1BAE-73B5-AD058FF5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DCB8-4685-3B63-039C-418B48F7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2491" y="857838"/>
            <a:ext cx="391212" cy="29943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7DCA4-1251-8D25-6311-59F294E25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658359" y="3176833"/>
            <a:ext cx="1046375" cy="631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728174-BBA2-D3F9-73C2-526C08AA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5" y="690486"/>
            <a:ext cx="4278787" cy="5154131"/>
          </a:xfrm>
          <a:prstGeom prst="rect">
            <a:avLst/>
          </a:prstGeom>
        </p:spPr>
      </p:pic>
      <p:pic>
        <p:nvPicPr>
          <p:cNvPr id="8" name="Picture 7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0E0628F-ECBA-7883-DFE6-ADA50B2D0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958" y="1046161"/>
            <a:ext cx="4278787" cy="489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9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1281-C499-5E31-0521-12CEEC5B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B8E2-9481-12F0-B7F4-D3210B70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2491" y="857838"/>
            <a:ext cx="391212" cy="29943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8AD4B-B801-E3FF-9F09-49B2DC54E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658359" y="3176833"/>
            <a:ext cx="1046375" cy="631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0872D16B-B578-3E70-1700-F372B62F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6" y="1246432"/>
            <a:ext cx="8543508" cy="406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57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4FE0-BDA1-E6CC-ADF2-AEB09B8C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69D3-A22C-99C5-AD78-CB5054D7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2491" y="857838"/>
            <a:ext cx="391212" cy="29943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3643D-BCE9-2611-5E20-9F482C300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658359" y="3176833"/>
            <a:ext cx="1046375" cy="631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16E063-23E6-6181-8F9D-AB98F135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1" y="1007554"/>
            <a:ext cx="8477590" cy="406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3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A279-430C-B3DA-D66E-C8817B97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6E80-BFE1-CCE9-F09B-11976BB0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2491" y="857838"/>
            <a:ext cx="391212" cy="29943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E14A2-436B-B12F-9E4F-A1C821960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658359" y="3176833"/>
            <a:ext cx="1046375" cy="6315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FBCB74-A03A-0304-989E-D34B8BDC4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172"/>
            <a:ext cx="9144000" cy="514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05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85" y="956824"/>
            <a:ext cx="8229600" cy="683700"/>
          </a:xfrm>
        </p:spPr>
        <p:txBody>
          <a:bodyPr/>
          <a:lstStyle/>
          <a:p>
            <a:r>
              <a:rPr lang="en-US" dirty="0">
                <a:solidFill>
                  <a:srgbClr val="403C4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Merriweather Bold" pitchFamily="34" charset="-120"/>
              </a:rPr>
              <a:t>Conclusion</a:t>
            </a:r>
            <a:b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8674"/>
            <a:ext cx="7706411" cy="4235116"/>
          </a:xfrm>
        </p:spPr>
        <p:txBody>
          <a:bodyPr/>
          <a:lstStyle/>
          <a:p>
            <a:r>
              <a:rPr lang="en-US" sz="1600" dirty="0"/>
              <a:t>• Successfully developed a fully functional web application for a women-led small business, integrating product listings, cart features, order management, and admin workflows.</a:t>
            </a:r>
          </a:p>
          <a:p>
            <a:br>
              <a:rPr lang="en-US" sz="1600" dirty="0"/>
            </a:br>
            <a:r>
              <a:rPr lang="en-US" sz="1600" dirty="0"/>
              <a:t>• Demonstrated strong technical competency by building and connecting React-based UI components with Express.js backend APIs, ensuring seamless system performance.</a:t>
            </a:r>
          </a:p>
          <a:p>
            <a:br>
              <a:rPr lang="en-US" sz="1600" dirty="0"/>
            </a:br>
            <a:r>
              <a:rPr lang="en-US" sz="1600" dirty="0"/>
              <a:t>• Enhanced system usability through continuous testing, debugging, responsiveness improvements, and cross-device validation.</a:t>
            </a:r>
          </a:p>
          <a:p>
            <a:br>
              <a:rPr lang="en-US" sz="1600" dirty="0"/>
            </a:br>
            <a:r>
              <a:rPr lang="en-US" sz="1600" dirty="0"/>
              <a:t>• Achieved service-learning objectives by applying technical skills to support community development, improve operational efficiency, and strengthen local entrepreneurship.</a:t>
            </a:r>
          </a:p>
          <a:p>
            <a:br>
              <a:rPr lang="en-US" sz="1600" dirty="0"/>
            </a:br>
            <a:r>
              <a:rPr lang="en-US" sz="1600" dirty="0"/>
              <a:t>• Showcased effective teamwork, structured documentation, and iterative refinement, resulting in a deployment-ready system aligned with academic and community expectations.</a:t>
            </a:r>
            <a:endParaRPr lang="en-US" sz="1600" dirty="0">
              <a:latin typeface="Malgun Gothic" panose="020B0503020000020004" pitchFamily="34" charset="-127"/>
              <a:ea typeface="Malgun Gothic" panose="020B0503020000020004" pitchFamily="34" charset="-127"/>
              <a:cs typeface="Open Sans" panose="020B06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1000</Words>
  <Application>Microsoft Office PowerPoint</Application>
  <PresentationFormat>On-screen Show (4:3)</PresentationFormat>
  <Paragraphs>94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Times New Roman</vt:lpstr>
      <vt:lpstr>Georgia</vt:lpstr>
      <vt:lpstr>Arial</vt:lpstr>
      <vt:lpstr>Malgun Gothic</vt:lpstr>
      <vt:lpstr>simple-light</vt:lpstr>
      <vt:lpstr>    Service Learning  EDEN FOODS WEB APP     </vt:lpstr>
      <vt:lpstr>CONFIRMATION LETTER</vt:lpstr>
      <vt:lpstr>NEED ANALYSIS</vt:lpstr>
      <vt:lpstr>GEOTAGGED PHOTO</vt:lpstr>
      <vt:lpstr>PowerPoint Presentation</vt:lpstr>
      <vt:lpstr>PROBLEM STATEMENT</vt:lpstr>
      <vt:lpstr>SDG GOALS</vt:lpstr>
      <vt:lpstr>Methodology (Design &amp; Evaluation)</vt:lpstr>
      <vt:lpstr>Implementation Progress </vt:lpstr>
      <vt:lpstr>Implementation Progress </vt:lpstr>
      <vt:lpstr>Weekly Report Summary 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</dc:title>
  <dc:creator>Michael Moses</dc:creator>
  <cp:lastModifiedBy>Austin Abraham</cp:lastModifiedBy>
  <cp:revision>21</cp:revision>
  <dcterms:modified xsi:type="dcterms:W3CDTF">2025-12-11T06:33:01Z</dcterms:modified>
</cp:coreProperties>
</file>